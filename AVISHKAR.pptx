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64"/>
            <p14:sldId id="265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10-09T12:47:36.372"/>
    <p1510:client id="{335CCA26-21C2-49F9-8248-E2B6C5ADB65F}" v="1" dt="2026-10-08T20:58:00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03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16A2-38CB-5A29-ACBF-F393FD13023D}"/>
              </a:ext>
            </a:extLst>
          </p:cNvPr>
          <p:cNvSpPr>
            <a:spLocks noGrp="1"/>
          </p:cNvSpPr>
          <p:nvPr>
            <p:ph type="title" idx="108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DDC0EE-F38D-665C-E973-2D965AA74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80" y="0"/>
            <a:ext cx="12201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15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7B72-6786-C847-6E32-D86D4C45201F}"/>
              </a:ext>
            </a:extLst>
          </p:cNvPr>
          <p:cNvSpPr>
            <a:spLocks noGrp="1"/>
          </p:cNvSpPr>
          <p:nvPr>
            <p:ph type="title" idx="108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A310A-87F7-0FBD-FECC-A500E6CBB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68"/>
            <a:ext cx="12192000" cy="687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AVISHKAR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07C7F7F-DE30-0FD8-9DDE-AEA173B886BC}"/>
              </a:ext>
            </a:extLst>
          </p:cNvPr>
          <p:cNvSpPr/>
          <p:nvPr/>
        </p:nvSpPr>
        <p:spPr>
          <a:xfrm>
            <a:off x="326572" y="1278294"/>
            <a:ext cx="3900196" cy="483325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            PRIMARY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Airport Security Teams </a:t>
            </a:r>
            <a:r>
              <a:rPr lang="en-US" sz="1600" dirty="0">
                <a:solidFill>
                  <a:schemeClr val="tx1"/>
                </a:solidFill>
              </a:rPr>
              <a:t>– To monitor and respond to unauthorized drone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Military and Defense Personnel </a:t>
            </a:r>
            <a:r>
              <a:rPr lang="en-US" sz="1600" dirty="0">
                <a:solidFill>
                  <a:schemeClr val="tx1"/>
                </a:solidFill>
              </a:rPr>
              <a:t>– To protect sensitive areas from potential drone threats.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Security and Counter-Drone Operators</a:t>
            </a:r>
            <a:r>
              <a:rPr lang="en-US" sz="1600" dirty="0">
                <a:solidFill>
                  <a:schemeClr val="tx1"/>
                </a:solidFill>
              </a:rPr>
              <a:t> – To detect, track, and manage unauthorized drones.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Critical Infrastructure Security Teams </a:t>
            </a:r>
            <a:r>
              <a:rPr lang="en-US" sz="1600" dirty="0">
                <a:solidFill>
                  <a:schemeClr val="tx1"/>
                </a:solidFill>
              </a:rPr>
              <a:t>– To protect important facilities and restricted zones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89EC7A-A1AF-10E9-BA25-FC4882437EBC}"/>
              </a:ext>
            </a:extLst>
          </p:cNvPr>
          <p:cNvSpPr/>
          <p:nvPr/>
        </p:nvSpPr>
        <p:spPr>
          <a:xfrm>
            <a:off x="4380722" y="1343608"/>
            <a:ext cx="3900197" cy="476794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/>
              <a:t>       </a:t>
            </a:r>
            <a:r>
              <a:rPr lang="en-IN" b="1" dirty="0"/>
              <a:t> </a:t>
            </a:r>
            <a:r>
              <a:rPr lang="en-IN" b="1" dirty="0">
                <a:solidFill>
                  <a:schemeClr val="tx1"/>
                </a:solidFill>
              </a:rPr>
              <a:t>SECONDARY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Government Agencies </a:t>
            </a:r>
            <a:r>
              <a:rPr lang="en-US" sz="1600" dirty="0">
                <a:solidFill>
                  <a:schemeClr val="tx1"/>
                </a:solidFill>
              </a:rPr>
              <a:t>– Responsible for public safety and airspace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Airport Authorities </a:t>
            </a:r>
            <a:r>
              <a:rPr lang="en-US" sz="1600" dirty="0">
                <a:solidFill>
                  <a:schemeClr val="tx1"/>
                </a:solidFill>
              </a:rPr>
              <a:t>– To maintain safe flight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Industrial Organizations </a:t>
            </a:r>
            <a:r>
              <a:rPr lang="en-US" sz="1600" dirty="0">
                <a:solidFill>
                  <a:schemeClr val="tx1"/>
                </a:solidFill>
              </a:rPr>
              <a:t>– To protect important facilities and equipment.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Emergency Services </a:t>
            </a:r>
            <a:r>
              <a:rPr lang="en-US" sz="1600" dirty="0">
                <a:solidFill>
                  <a:schemeClr val="tx1"/>
                </a:solidFill>
              </a:rPr>
              <a:t>– To reduce disruptions during emergency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Drone Manufacturers and Developers </a:t>
            </a:r>
            <a:r>
              <a:rPr lang="en-US" sz="1600" dirty="0">
                <a:solidFill>
                  <a:schemeClr val="tx1"/>
                </a:solidFill>
              </a:rPr>
              <a:t>– To improve drone safety and counter-drone technologies.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296C42-C434-F34C-F986-DEB4BC835FAC}"/>
              </a:ext>
            </a:extLst>
          </p:cNvPr>
          <p:cNvSpPr/>
          <p:nvPr/>
        </p:nvSpPr>
        <p:spPr>
          <a:xfrm>
            <a:off x="8434873" y="1310950"/>
            <a:ext cx="3648271" cy="476794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/>
              <a:t>         </a:t>
            </a:r>
            <a:r>
              <a:rPr lang="en-IN" b="1" dirty="0">
                <a:solidFill>
                  <a:schemeClr val="tx1"/>
                </a:solidFill>
              </a:rPr>
              <a:t>WHO BENEFITS IF THE      PROBLEM IS SOLVED?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Airline Passengers </a:t>
            </a:r>
            <a:r>
              <a:rPr lang="en-US" sz="1600" dirty="0">
                <a:solidFill>
                  <a:schemeClr val="tx1"/>
                </a:solidFill>
              </a:rPr>
              <a:t>– Fewer disruptions caused by unauthorized drone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Businesses and Industries </a:t>
            </a:r>
            <a:r>
              <a:rPr lang="en-US" sz="1600" dirty="0">
                <a:solidFill>
                  <a:schemeClr val="tx1"/>
                </a:solidFill>
              </a:rPr>
              <a:t>– Better protection of important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Security Personnel </a:t>
            </a:r>
            <a:r>
              <a:rPr lang="en-US" sz="1600" dirty="0">
                <a:solidFill>
                  <a:schemeClr val="tx1"/>
                </a:solidFill>
              </a:rPr>
              <a:t>– Improved support for detecting and tracking drones.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Government and Defense Organizations </a:t>
            </a:r>
            <a:r>
              <a:rPr lang="en-US" sz="1600" dirty="0">
                <a:solidFill>
                  <a:schemeClr val="tx1"/>
                </a:solidFill>
              </a:rPr>
              <a:t>– Better monitoring of sensitive areas.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864108" y="473817"/>
            <a:ext cx="2606040" cy="5943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r>
              <a:rPr lang="en-IN" sz="1400" dirty="0"/>
              <a:t>               </a:t>
            </a:r>
            <a:endParaRPr lang="en-IN" sz="1600" dirty="0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 dirty="0"/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0A9A1A11-2DE2-9BEA-629F-E3B01EC7FA98}"/>
              </a:ext>
            </a:extLst>
          </p:cNvPr>
          <p:cNvSpPr/>
          <p:nvPr/>
        </p:nvSpPr>
        <p:spPr>
          <a:xfrm>
            <a:off x="594360" y="1234440"/>
            <a:ext cx="3337560" cy="33375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2BD821-6AF2-B655-1F88-194B208E64E8}"/>
              </a:ext>
            </a:extLst>
          </p:cNvPr>
          <p:cNvSpPr txBox="1"/>
          <p:nvPr/>
        </p:nvSpPr>
        <p:spPr>
          <a:xfrm>
            <a:off x="822960" y="1481328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ptos"/>
              </a:defRPr>
            </a:pPr>
            <a:r>
              <a:rPr dirty="0"/>
              <a:t>GROWING DRONE THREAT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9888B5-92D8-7E5E-BAF7-A28148729E53}"/>
              </a:ext>
            </a:extLst>
          </p:cNvPr>
          <p:cNvSpPr txBox="1"/>
          <p:nvPr/>
        </p:nvSpPr>
        <p:spPr>
          <a:xfrm>
            <a:off x="822960" y="2011680"/>
            <a:ext cx="288036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latin typeface="Aptos"/>
              </a:defRPr>
            </a:pPr>
            <a:r>
              <a:rPr dirty="0"/>
              <a:t>• </a:t>
            </a:r>
            <a:r>
              <a:rPr sz="1600" dirty="0"/>
              <a:t>Drones are becoming smaller, more capable, and easily accessible.</a:t>
            </a:r>
          </a:p>
          <a:p>
            <a:pPr>
              <a:spcAft>
                <a:spcPts val="1200"/>
              </a:spcAft>
              <a:defRPr sz="1300">
                <a:latin typeface="Aptos"/>
              </a:defRPr>
            </a:pPr>
            <a:r>
              <a:rPr sz="1600" dirty="0"/>
              <a:t>• Unauthorized drones can enter restricted or sensitive areas.</a:t>
            </a: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844EFE63-2CAE-FAA3-39F9-3216CF2A71CD}"/>
              </a:ext>
            </a:extLst>
          </p:cNvPr>
          <p:cNvSpPr/>
          <p:nvPr/>
        </p:nvSpPr>
        <p:spPr>
          <a:xfrm>
            <a:off x="4160520" y="1234440"/>
            <a:ext cx="3337560" cy="33375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40AEA4-63D6-C497-4123-26B062D5F596}"/>
              </a:ext>
            </a:extLst>
          </p:cNvPr>
          <p:cNvSpPr txBox="1"/>
          <p:nvPr/>
        </p:nvSpPr>
        <p:spPr>
          <a:xfrm>
            <a:off x="4251469" y="1474445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ptos"/>
              </a:defRPr>
            </a:pPr>
            <a:r>
              <a:rPr dirty="0"/>
              <a:t>HOW CURRENT SYSTEMS RESPOND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D2F3F-942E-872D-3C9D-33B99C6B1938}"/>
              </a:ext>
            </a:extLst>
          </p:cNvPr>
          <p:cNvSpPr txBox="1"/>
          <p:nvPr/>
        </p:nvSpPr>
        <p:spPr>
          <a:xfrm>
            <a:off x="4389120" y="2011680"/>
            <a:ext cx="288036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latin typeface="Aptos"/>
              </a:defRPr>
            </a:pPr>
            <a:r>
              <a:rPr sz="1600" dirty="0"/>
              <a:t>• Detection can use Radar, RF sensors, Cameras, Infrared, and Acoustic sensors.</a:t>
            </a:r>
          </a:p>
          <a:p>
            <a:pPr>
              <a:spcAft>
                <a:spcPts val="1200"/>
              </a:spcAft>
              <a:defRPr sz="1300">
                <a:latin typeface="Aptos"/>
              </a:defRPr>
            </a:pPr>
            <a:r>
              <a:rPr sz="1600" dirty="0"/>
              <a:t>• The drone is then tracked and an appropriate response is selected.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A0986F20-1DEC-0C34-0B33-1D8D7EC25699}"/>
              </a:ext>
            </a:extLst>
          </p:cNvPr>
          <p:cNvSpPr/>
          <p:nvPr/>
        </p:nvSpPr>
        <p:spPr>
          <a:xfrm>
            <a:off x="7726679" y="1234440"/>
            <a:ext cx="3337560" cy="33375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3AAFB9-4B29-8377-0078-55D88898AE30}"/>
              </a:ext>
            </a:extLst>
          </p:cNvPr>
          <p:cNvSpPr txBox="1"/>
          <p:nvPr/>
        </p:nvSpPr>
        <p:spPr>
          <a:xfrm>
            <a:off x="7955279" y="1481328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ptos"/>
              </a:defRPr>
            </a:pPr>
            <a:r>
              <a:rPr dirty="0"/>
              <a:t>EXISTING CHALLENGE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A1DEB2-C597-C813-090A-E9A6B0A4124F}"/>
              </a:ext>
            </a:extLst>
          </p:cNvPr>
          <p:cNvSpPr txBox="1"/>
          <p:nvPr/>
        </p:nvSpPr>
        <p:spPr>
          <a:xfrm>
            <a:off x="7955279" y="2011680"/>
            <a:ext cx="28803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latin typeface="Aptos"/>
              </a:defRPr>
            </a:pPr>
            <a:r>
              <a:rPr dirty="0"/>
              <a:t>• </a:t>
            </a:r>
            <a:r>
              <a:rPr sz="1600" dirty="0"/>
              <a:t>Small drones can be difficult to detect and track.</a:t>
            </a:r>
          </a:p>
          <a:p>
            <a:pPr>
              <a:spcAft>
                <a:spcPts val="1200"/>
              </a:spcAft>
              <a:defRPr sz="1300">
                <a:latin typeface="Aptos"/>
              </a:defRPr>
            </a:pPr>
            <a:r>
              <a:rPr sz="1600" dirty="0"/>
              <a:t>• Noise, interference, and false detections can affect performance.</a:t>
            </a:r>
          </a:p>
          <a:p>
            <a:pPr>
              <a:spcAft>
                <a:spcPts val="1200"/>
              </a:spcAft>
              <a:defRPr sz="1300">
                <a:latin typeface="Aptos"/>
              </a:defRPr>
            </a:pPr>
            <a:r>
              <a:rPr sz="1600" dirty="0"/>
              <a:t>• Many existing systems can be expensive or complex.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0C282E-2550-6683-076F-90903602DB4A}"/>
              </a:ext>
            </a:extLst>
          </p:cNvPr>
          <p:cNvSpPr txBox="1"/>
          <p:nvPr/>
        </p:nvSpPr>
        <p:spPr>
          <a:xfrm>
            <a:off x="594360" y="4892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latin typeface="Aptos"/>
              </a:defRPr>
            </a:pPr>
            <a:r>
              <a:rPr dirty="0"/>
              <a:t>DETECT  →  IDENTIFY  →  TRACK  →  RESPOND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3D2AE1-142C-5F52-96B5-8CB5C1F42EAB}"/>
              </a:ext>
            </a:extLst>
          </p:cNvPr>
          <p:cNvSpPr txBox="1"/>
          <p:nvPr/>
        </p:nvSpPr>
        <p:spPr>
          <a:xfrm>
            <a:off x="1417320" y="5696712"/>
            <a:ext cx="9372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Aptos"/>
              </a:defRPr>
            </a:pPr>
            <a:r>
              <a:rPr dirty="0"/>
              <a:t>This creates a need for a cost-effective, agile and reliable counter-drone solution.</a:t>
            </a:r>
          </a:p>
        </p:txBody>
      </p:sp>
      <p:sp>
        <p:nvSpPr>
          <p:cNvPr id="42" name="Team Name">
            <a:extLst>
              <a:ext uri="{FF2B5EF4-FFF2-40B4-BE49-F238E27FC236}">
                <a16:creationId xmlns:a16="http://schemas.microsoft.com/office/drawing/2014/main" id="{4470A499-58C3-9952-E7E3-BF14BFA1AB59}"/>
              </a:ext>
            </a:extLst>
          </p:cNvPr>
          <p:cNvSpPr txBox="1"/>
          <p:nvPr/>
        </p:nvSpPr>
        <p:spPr>
          <a:xfrm>
            <a:off x="1353312" y="481486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AVISHKAR</a:t>
            </a:r>
            <a:endParaRPr lang="en-US" sz="16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AVISHKAR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 dirty="0"/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700045C0-FECB-1F01-4787-E83C720D6ED3}"/>
              </a:ext>
            </a:extLst>
          </p:cNvPr>
          <p:cNvSpPr/>
          <p:nvPr/>
        </p:nvSpPr>
        <p:spPr>
          <a:xfrm>
            <a:off x="594360" y="1325880"/>
            <a:ext cx="5349240" cy="19202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332154-ED1F-09A6-4452-A3A2999F1CF2}"/>
              </a:ext>
            </a:extLst>
          </p:cNvPr>
          <p:cNvSpPr txBox="1"/>
          <p:nvPr/>
        </p:nvSpPr>
        <p:spPr>
          <a:xfrm>
            <a:off x="82296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Aptos"/>
              </a:defRPr>
            </a:pPr>
            <a:r>
              <a:rPr dirty="0"/>
              <a:t>MAIN DIFFICULTIES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7E1F2E-49A2-2567-5D31-EF7990717B38}"/>
              </a:ext>
            </a:extLst>
          </p:cNvPr>
          <p:cNvSpPr txBox="1"/>
          <p:nvPr/>
        </p:nvSpPr>
        <p:spPr>
          <a:xfrm>
            <a:off x="822960" y="1947672"/>
            <a:ext cx="484632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sz="1600" dirty="0"/>
              <a:t>• Small drones are difficult to detect reliably.</a:t>
            </a:r>
          </a:p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sz="1600" dirty="0"/>
              <a:t>• Tracking can become difficult in crowded environments.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A601D558-5CEA-34B1-39B5-16292C9838B8}"/>
              </a:ext>
            </a:extLst>
          </p:cNvPr>
          <p:cNvSpPr/>
          <p:nvPr/>
        </p:nvSpPr>
        <p:spPr>
          <a:xfrm>
            <a:off x="6217920" y="1325880"/>
            <a:ext cx="5349240" cy="19202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809F8A-F2FC-B1D4-192A-20E77A763ACA}"/>
              </a:ext>
            </a:extLst>
          </p:cNvPr>
          <p:cNvSpPr txBox="1"/>
          <p:nvPr/>
        </p:nvSpPr>
        <p:spPr>
          <a:xfrm>
            <a:off x="644652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Aptos"/>
              </a:defRPr>
            </a:pPr>
            <a:r>
              <a:rPr dirty="0"/>
              <a:t>BOTTLENECKS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76B8B-8E09-A43A-FA91-CA617AF909B5}"/>
              </a:ext>
            </a:extLst>
          </p:cNvPr>
          <p:cNvSpPr txBox="1"/>
          <p:nvPr/>
        </p:nvSpPr>
        <p:spPr>
          <a:xfrm>
            <a:off x="6446520" y="1947672"/>
            <a:ext cx="484632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dirty="0"/>
              <a:t>• </a:t>
            </a:r>
            <a:r>
              <a:rPr sz="1600" dirty="0"/>
              <a:t>Limited detection range and noisy environments.</a:t>
            </a:r>
          </a:p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sz="1600" dirty="0"/>
              <a:t>• Real-time localization and tracking can be challenging.</a:t>
            </a: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6ACAC68A-EE13-4C4B-00FF-1B3CC4CCC6CB}"/>
              </a:ext>
            </a:extLst>
          </p:cNvPr>
          <p:cNvSpPr/>
          <p:nvPr/>
        </p:nvSpPr>
        <p:spPr>
          <a:xfrm>
            <a:off x="594360" y="3657600"/>
            <a:ext cx="5349240" cy="19202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64122C-EA4D-8C2F-ACE7-6A524602E47A}"/>
              </a:ext>
            </a:extLst>
          </p:cNvPr>
          <p:cNvSpPr txBox="1"/>
          <p:nvPr/>
        </p:nvSpPr>
        <p:spPr>
          <a:xfrm>
            <a:off x="822960" y="38404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Aptos"/>
              </a:defRPr>
            </a:pPr>
            <a:r>
              <a:rPr dirty="0"/>
              <a:t>ROOT CAUSES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87D0B9-2F9A-0664-A247-9FA76A4BE178}"/>
              </a:ext>
            </a:extLst>
          </p:cNvPr>
          <p:cNvSpPr txBox="1"/>
          <p:nvPr/>
        </p:nvSpPr>
        <p:spPr>
          <a:xfrm>
            <a:off x="822960" y="4279392"/>
            <a:ext cx="484632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lang="en-US" sz="1600" dirty="0"/>
              <a:t>• Small size and low visibility of drones.</a:t>
            </a:r>
          </a:p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lang="en-US" sz="1600" dirty="0"/>
              <a:t>• Acoustic/RF signals can be affected by interference and surroundings.</a:t>
            </a:r>
          </a:p>
        </p:txBody>
      </p:sp>
      <p:sp>
        <p:nvSpPr>
          <p:cNvPr id="33" name="Rounded Rectangle 11">
            <a:extLst>
              <a:ext uri="{FF2B5EF4-FFF2-40B4-BE49-F238E27FC236}">
                <a16:creationId xmlns:a16="http://schemas.microsoft.com/office/drawing/2014/main" id="{65C33274-1EF8-1F04-0B0F-742EB7DFAD8A}"/>
              </a:ext>
            </a:extLst>
          </p:cNvPr>
          <p:cNvSpPr/>
          <p:nvPr/>
        </p:nvSpPr>
        <p:spPr>
          <a:xfrm>
            <a:off x="6217920" y="3657600"/>
            <a:ext cx="5349240" cy="19202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C975BD-6589-E2E6-4A10-02ADEB992503}"/>
              </a:ext>
            </a:extLst>
          </p:cNvPr>
          <p:cNvSpPr txBox="1"/>
          <p:nvPr/>
        </p:nvSpPr>
        <p:spPr>
          <a:xfrm>
            <a:off x="6446520" y="38404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Aptos"/>
              </a:defRPr>
            </a:pPr>
            <a:r>
              <a:rPr lang="en-IN" dirty="0"/>
              <a:t>CONSEQUENCES</a:t>
            </a:r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54CE7-510E-A034-AC84-52899D61EAB8}"/>
              </a:ext>
            </a:extLst>
          </p:cNvPr>
          <p:cNvSpPr txBox="1"/>
          <p:nvPr/>
        </p:nvSpPr>
        <p:spPr>
          <a:xfrm>
            <a:off x="6446520" y="4279392"/>
            <a:ext cx="484632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lang="en-US" dirty="0"/>
              <a:t>• </a:t>
            </a:r>
            <a:r>
              <a:rPr lang="en-US" sz="1600" dirty="0"/>
              <a:t>Delayed detection and response.</a:t>
            </a:r>
          </a:p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lang="en-US" sz="1600" dirty="0"/>
              <a:t>• Higher risk of unauthorized drone activity going unnoticed.</a:t>
            </a:r>
          </a:p>
          <a:p>
            <a:pPr>
              <a:spcAft>
                <a:spcPts val="800"/>
              </a:spcAft>
              <a:defRPr sz="1250">
                <a:latin typeface="Aptos"/>
              </a:defRPr>
            </a:pPr>
            <a:r>
              <a:rPr lang="en-US" sz="1600" dirty="0"/>
              <a:t>• Conventional solutions may be costly or complex.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EXISTING SOLUTIONS / APPROACHES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F7021451-1387-4CA6-816F-3879F97B5CBC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3" name="Team Badge"/>
          <p:cNvSpPr/>
          <p:nvPr/>
        </p:nvSpPr>
        <p:spPr>
          <a:xfrm>
            <a:off x="516795" y="256032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anchor="ctr"/>
          <a:lstStyle/>
          <a:p>
            <a:r>
              <a:rPr lang="en-IN" dirty="0"/>
              <a:t>A         </a:t>
            </a:r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FE7B6-B5C0-F76E-53E2-694DA4DC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142" y="1349477"/>
            <a:ext cx="7089057" cy="4736604"/>
          </a:xfrm>
          <a:prstGeom prst="rect">
            <a:avLst/>
          </a:prstGeom>
        </p:spPr>
      </p:pic>
      <p:sp>
        <p:nvSpPr>
          <p:cNvPr id="18" name="Team Name">
            <a:extLst>
              <a:ext uri="{FF2B5EF4-FFF2-40B4-BE49-F238E27FC236}">
                <a16:creationId xmlns:a16="http://schemas.microsoft.com/office/drawing/2014/main" id="{F0E514BF-F7D0-72B8-B306-E4B52B43DFEE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AVISHKAR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9410D2-00E9-BCED-4E2D-06BEDFE6D953}"/>
              </a:ext>
            </a:extLst>
          </p:cNvPr>
          <p:cNvSpPr/>
          <p:nvPr/>
        </p:nvSpPr>
        <p:spPr>
          <a:xfrm>
            <a:off x="78658" y="1267131"/>
            <a:ext cx="4591665" cy="490129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Existing methods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IN" dirty="0">
                <a:solidFill>
                  <a:schemeClr val="tx1"/>
                </a:solidFill>
              </a:rPr>
              <a:t>Acoustic Detection Systems Ground-based microphone arrays detect drone motor and propeller sounds, even when visual detection is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 Cost: Some advanced counter-drone systems are expensive to deploy and maintain.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Detection Difficulties: Small drones can be difficult to detect reliably in certain environments. Environmental Interference: Noise, obstacles, and poor visibility can affect detection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18138-FD50-CB02-A92A-900A68251DC1}"/>
              </a:ext>
            </a:extLst>
          </p:cNvPr>
          <p:cNvSpPr txBox="1"/>
          <p:nvPr/>
        </p:nvSpPr>
        <p:spPr>
          <a:xfrm>
            <a:off x="6316823" y="5648913"/>
            <a:ext cx="140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Ref:Claude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 dirty="0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163A27D7-9A3F-455A-344C-EFF9648E9A1A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AVISHKAR</a:t>
            </a:r>
            <a:endParaRPr lang="en-US" sz="1600" dirty="0">
              <a:solidFill>
                <a:schemeClr val="accent4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5CFC34-CAC8-2A4B-2B1D-1F2A8B721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063" y="3892046"/>
            <a:ext cx="3460956" cy="20524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356725-5672-FFD1-A834-9829D53BDC49}"/>
              </a:ext>
            </a:extLst>
          </p:cNvPr>
          <p:cNvSpPr/>
          <p:nvPr/>
        </p:nvSpPr>
        <p:spPr>
          <a:xfrm>
            <a:off x="176981" y="1327354"/>
            <a:ext cx="4149213" cy="470965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         </a:t>
            </a:r>
            <a:r>
              <a:rPr lang="en-IN" b="1" dirty="0">
                <a:solidFill>
                  <a:schemeClr val="tx1"/>
                </a:solidFill>
              </a:rPr>
              <a:t>HARDWARE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UAV Frame</a:t>
            </a:r>
            <a:r>
              <a:rPr lang="en-IN" sz="1600" dirty="0">
                <a:solidFill>
                  <a:schemeClr val="tx1"/>
                </a:solidFill>
              </a:rPr>
              <a:t>: Lightweight frame with four arms.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Motors and Propellers</a:t>
            </a:r>
            <a:r>
              <a:rPr lang="en-IN" sz="1600" dirty="0">
                <a:solidFill>
                  <a:schemeClr val="tx1"/>
                </a:solidFill>
              </a:rPr>
              <a:t>: For generating lift and movement.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Flight Controller</a:t>
            </a:r>
            <a:r>
              <a:rPr lang="en-IN" sz="1600" dirty="0">
                <a:solidFill>
                  <a:schemeClr val="tx1"/>
                </a:solidFill>
              </a:rPr>
              <a:t>: To maintain stability and control the UAV.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Sensors:</a:t>
            </a:r>
            <a:r>
              <a:rPr lang="en-IN" sz="1600" dirty="0">
                <a:solidFill>
                  <a:schemeClr val="tx1"/>
                </a:solidFill>
              </a:rPr>
              <a:t> Gyroscope, accelerometer, barometer, and position sensor.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Acoustic Sensors</a:t>
            </a:r>
            <a:r>
              <a:rPr lang="en-IN" sz="1600" dirty="0">
                <a:solidFill>
                  <a:schemeClr val="tx1"/>
                </a:solidFill>
              </a:rPr>
              <a:t>: Microphones to capture sounds from nearby drones.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Power Supply</a:t>
            </a:r>
            <a:r>
              <a:rPr lang="en-IN" sz="1600" dirty="0">
                <a:solidFill>
                  <a:schemeClr val="tx1"/>
                </a:solidFill>
              </a:rPr>
              <a:t>: Battery and power distribution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Electronic Components</a:t>
            </a:r>
            <a:r>
              <a:rPr lang="en-IN" sz="1600" dirty="0">
                <a:solidFill>
                  <a:schemeClr val="tx1"/>
                </a:solidFill>
              </a:rPr>
              <a:t>: Wiring, connectors, and a suitable microcontroller.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06CA4A-F20A-D765-30AD-9608219F32D9}"/>
              </a:ext>
            </a:extLst>
          </p:cNvPr>
          <p:cNvSpPr/>
          <p:nvPr/>
        </p:nvSpPr>
        <p:spPr>
          <a:xfrm>
            <a:off x="4483510" y="1346325"/>
            <a:ext cx="3952568" cy="469067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b="1" dirty="0"/>
              <a:t>      </a:t>
            </a:r>
            <a:r>
              <a:rPr lang="en-IN" b="1" dirty="0">
                <a:solidFill>
                  <a:schemeClr val="tx1"/>
                </a:solidFill>
              </a:rPr>
              <a:t>SOFTWARE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Programming</a:t>
            </a:r>
            <a:r>
              <a:rPr lang="en-US" dirty="0">
                <a:solidFill>
                  <a:schemeClr val="tx1"/>
                </a:solidFill>
              </a:rPr>
              <a:t>: C/C++ or Python for control logic and data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Flight-Control Software</a:t>
            </a:r>
            <a:r>
              <a:rPr lang="en-US" dirty="0">
                <a:solidFill>
                  <a:schemeClr val="tx1"/>
                </a:solidFill>
              </a:rPr>
              <a:t>: For monitoring orientation and maintaining stable flight.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Signal Processing</a:t>
            </a:r>
            <a:r>
              <a:rPr lang="en-US" dirty="0">
                <a:solidFill>
                  <a:schemeClr val="tx1"/>
                </a:solidFill>
              </a:rPr>
              <a:t>: To analyze acoustic signals and explore drone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Simulation Tools</a:t>
            </a:r>
            <a:r>
              <a:rPr lang="en-US" dirty="0">
                <a:solidFill>
                  <a:schemeClr val="tx1"/>
                </a:solidFill>
              </a:rPr>
              <a:t>: MATLAB/Simulink or a suitable flight simulator for testing the concept.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577ADD-47A8-7EF7-08F2-706413AC0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394" y="1388301"/>
            <a:ext cx="3510116" cy="2237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25F5F-1F9A-A66F-A707-62DD66E485AB}"/>
              </a:ext>
            </a:extLst>
          </p:cNvPr>
          <p:cNvSpPr txBox="1"/>
          <p:nvPr/>
        </p:nvSpPr>
        <p:spPr>
          <a:xfrm>
            <a:off x="9629191" y="5711774"/>
            <a:ext cx="1735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Ref:ChatGPT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 dirty="0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A17081DE-E38F-FEA1-47B2-02540E72966E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AVISHKAR</a:t>
            </a:r>
            <a:endParaRPr lang="en-US" sz="1600" dirty="0">
              <a:solidFill>
                <a:schemeClr val="accent4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71F958-F01D-41AC-249E-3866F28A7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0" y="1436914"/>
            <a:ext cx="2790579" cy="21833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500135-12DB-8530-11F7-B96AAD777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0" y="3696074"/>
            <a:ext cx="2790579" cy="2518114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95FD1E6-48A4-BA61-FF3A-AF2F57171A05}"/>
              </a:ext>
            </a:extLst>
          </p:cNvPr>
          <p:cNvSpPr/>
          <p:nvPr/>
        </p:nvSpPr>
        <p:spPr>
          <a:xfrm>
            <a:off x="3063240" y="1429089"/>
            <a:ext cx="3085854" cy="48852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b="1" dirty="0">
                <a:solidFill>
                  <a:schemeClr val="tx1"/>
                </a:solidFill>
              </a:rPr>
              <a:t>WHAT OUR TEAM INTENED TO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 a low-cost UAV-based counter-drone concept.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Explore acoustic detection to identify nearby drones through their sound.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Integrate sensors with a flight controller for stable and controlled flight.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 a compact UAV model with suitable electronic components.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97ED88-2694-89FF-C0B4-EFDA9997362A}"/>
              </a:ext>
            </a:extLst>
          </p:cNvPr>
          <p:cNvSpPr/>
          <p:nvPr/>
        </p:nvSpPr>
        <p:spPr>
          <a:xfrm>
            <a:off x="6319845" y="1436914"/>
            <a:ext cx="2930013" cy="48852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b="1" dirty="0">
                <a:solidFill>
                  <a:schemeClr val="tx1"/>
                </a:solidFill>
              </a:rPr>
              <a:t> WHAT WE WANT TO EXPLORE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Reduce the overall system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Explore more reliable drone detection using acoustic sensors.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Improve coordination between detection and flight-control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Simplify the design while maintaining flight stability.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ED7CF30-74C6-6BAA-BFB5-C7D5DA3DD9DA}"/>
              </a:ext>
            </a:extLst>
          </p:cNvPr>
          <p:cNvSpPr/>
          <p:nvPr/>
        </p:nvSpPr>
        <p:spPr>
          <a:xfrm>
            <a:off x="9420609" y="1429089"/>
            <a:ext cx="2713703" cy="48852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b="1" dirty="0"/>
              <a:t>  </a:t>
            </a:r>
            <a:r>
              <a:rPr lang="en-IN" b="1" dirty="0">
                <a:solidFill>
                  <a:schemeClr val="tx1"/>
                </a:solidFill>
              </a:rPr>
              <a:t>EXPECTED IMPROVEMENTS FOR SUCCESS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Demonstrate the basic UAV design through modelling or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Evaluate acoustic detection under different background-noise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Show stable flight-control behavior in simulation or controlled testing.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743</Words>
  <Application>Microsoft Office PowerPoint</Application>
  <PresentationFormat>Widescreen</PresentationFormat>
  <Paragraphs>111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</vt:lpstr>
      <vt:lpstr>PowerPoint Presentation</vt:lpstr>
      <vt:lpstr>PowerPoint Presentation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Samanyu S</cp:lastModifiedBy>
  <cp:revision>12</cp:revision>
  <dcterms:created xsi:type="dcterms:W3CDTF">2026-10-07T15:27:40Z</dcterms:created>
  <dcterms:modified xsi:type="dcterms:W3CDTF">2026-10-10T04:38:36Z</dcterms:modified>
</cp:coreProperties>
</file>